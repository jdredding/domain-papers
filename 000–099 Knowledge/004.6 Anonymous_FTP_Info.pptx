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51560"/>
            <a:ext cx="11365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  ·  CULTURE  ·  ARCHIVE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1389888"/>
            <a:ext cx="11365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FTP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11480" y="22677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file-sharing method that predates the web, package managers, and the cloud.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0"/>
            <a:ext cx="7452360" cy="1417320"/>
          </a:xfrm>
          <a:prstGeom prst="roundRect">
            <a:avLst>
              <a:gd name="adj" fmla="val 5161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309067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“Was für plundern!”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7512" y="35204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 place to plunder!”  —  Gebhard Leberecht Blücher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38221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19th-century line that early net culture borrowed for wide-open public archives.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92440" y="2926080"/>
            <a:ext cx="3685032" cy="1417320"/>
          </a:xfrm>
          <a:prstGeom prst="roundRect">
            <a:avLst>
              <a:gd name="adj" fmla="val 5161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30906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ONE 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33375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anonymous.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your email.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/pub.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457200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4572000"/>
            <a:ext cx="278892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" y="47000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" y="49926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= anonymous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19272" y="457200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9272" y="4572000"/>
            <a:ext cx="278892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8" name="Text 16"/>
          <p:cNvSpPr/>
          <p:nvPr/>
        </p:nvSpPr>
        <p:spPr>
          <a:xfrm>
            <a:off x="3465576" y="47000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Courtesy password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65576" y="49926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an email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27064" y="457200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7064" y="4572000"/>
            <a:ext cx="278892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47000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tree only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73368" y="49926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chrooted /pub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34856" y="457200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34856" y="4572000"/>
            <a:ext cx="278892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26" name="Text 24"/>
          <p:cNvSpPr/>
          <p:nvPr/>
        </p:nvSpPr>
        <p:spPr>
          <a:xfrm>
            <a:off x="9281160" y="47000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alive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81160" y="49926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+ FTPS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232A34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65653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FTP  ·  OPEN ARCHIVES OF THE EARLY INTERNET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497312" y="6565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65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— 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11365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anonymous FTP actually was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669280" cy="2331720"/>
          </a:xfrm>
          <a:prstGeom prst="roundRect">
            <a:avLst>
              <a:gd name="adj" fmla="val 3137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2070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ACCESS 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1481328"/>
            <a:ext cx="5266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FTP needed a real account on the remote machine. Anonymous FTP was the workaround: admins exposed a controlled slice of disk so anyone could fetch public files without a personal login.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" y="2542032"/>
            <a:ext cx="5266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named both the protocol and the client program. With credentials (or guest access) you could move files between distant hosts — South Africa to Los Angeles — at whatever the link allowed.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078992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20700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FOUR RULES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10528" y="1536192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1A2028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53619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14032" y="153619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account required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0528" y="1956816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1A2028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95681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14032" y="195681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name is always anonymous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10528" y="2377440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1A2028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37744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14032" y="23774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is usually your email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10528" y="2798064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1A2028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79806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14032" y="279806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limited to a public tree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480" y="3566160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PEOPLE ACTUALLY SHARED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877056"/>
            <a:ext cx="3703320" cy="969264"/>
          </a:xfrm>
          <a:prstGeom prst="roundRect">
            <a:avLst>
              <a:gd name="adj" fmla="val 7547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4023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6072" y="43342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tarballs, patches, early trees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51960" y="3877056"/>
            <a:ext cx="3703320" cy="969264"/>
          </a:xfrm>
          <a:prstGeom prst="roundRect">
            <a:avLst>
              <a:gd name="adj" fmla="val 7547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4023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16552" y="43342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preprints before the web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3877056"/>
            <a:ext cx="3703320" cy="969264"/>
          </a:xfrm>
          <a:prstGeom prst="roundRect">
            <a:avLst>
              <a:gd name="adj" fmla="val 7547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57032" y="4023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57032" y="43342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drop-boxes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1480" y="4956048"/>
            <a:ext cx="3703320" cy="969264"/>
          </a:xfrm>
          <a:prstGeom prst="roundRect">
            <a:avLst>
              <a:gd name="adj" fmla="val 7547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51023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distros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6072" y="54132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floppy / CD images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251960" y="4956048"/>
            <a:ext cx="3703320" cy="969264"/>
          </a:xfrm>
          <a:prstGeom prst="roundRect">
            <a:avLst>
              <a:gd name="adj" fmla="val 7547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51023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Usenet archives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16552" y="54132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comp.os.*, FAQs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092440" y="4956048"/>
            <a:ext cx="3703320" cy="969264"/>
          </a:xfrm>
          <a:prstGeom prst="roundRect">
            <a:avLst>
              <a:gd name="adj" fmla="val 7547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57032" y="51023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&amp; RFCs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57032" y="54132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manuals, how-tos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232A34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65653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FTP  ·  OPEN ARCHIVES OF THE EARLY INTERNET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497312" y="6565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65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—  SITES &amp; LOGIN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Famous archives and how you got 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5806440" cy="950976"/>
          </a:xfrm>
          <a:prstGeom prst="roundRect">
            <a:avLst>
              <a:gd name="adj" fmla="val 7692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73152" cy="950976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0972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gatekeeper.dec.com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13533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Equipment Corporation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15910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public archive; software, docs, tools.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5806440" cy="950976"/>
          </a:xfrm>
          <a:prstGeom prst="roundRect">
            <a:avLst>
              <a:gd name="adj" fmla="val 7692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29968"/>
            <a:ext cx="73152" cy="950976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1214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wuarchive.wustl.edu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" y="237744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University in St. Louis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" y="2615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university mirror — an early SourceForge.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54096"/>
            <a:ext cx="5806440" cy="950976"/>
          </a:xfrm>
          <a:prstGeom prst="roundRect">
            <a:avLst>
              <a:gd name="adj" fmla="val 7692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54096"/>
            <a:ext cx="73152" cy="950976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1455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archive.cis.ohio-state.edu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" y="340156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State University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" y="36393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archive of software and documentation.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005840"/>
            <a:ext cx="5376672" cy="4023360"/>
          </a:xfrm>
          <a:prstGeom prst="roundRect">
            <a:avLst>
              <a:gd name="adj" fmla="val 1818"/>
            </a:avLst>
          </a:prstGeom>
          <a:solidFill>
            <a:srgbClr val="0D1F12"/>
          </a:solidFill>
          <a:ln w="12700">
            <a:solidFill>
              <a:srgbClr val="1B3A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1338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ftp&gt;   SESSION  ·  COURTESY LOGIN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146304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 ftp.uu.net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 to ftp.uu.net.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 uunet FTP server ready.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(ftp.uu.net:you): anonymous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jm@south.america.org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 Guest login ok, access restrictions apply.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7033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was not a secret. It was etiquette — so operators could see who was using the archive and reach someone if a transfer went wrong. Passwords did not echo.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4133088"/>
            <a:ext cx="5806440" cy="2084832"/>
          </a:xfrm>
          <a:prstGeom prst="roundRect">
            <a:avLst>
              <a:gd name="adj" fmla="val 3509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4261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WAS NEVER A CONSTANT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" y="4535424"/>
            <a:ext cx="5440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lived on the physical link and the crowd. A 9600 bps SLIP hop crawled; a 56 kbps leased line felt fast. If 30 people pulled the same tarball, load and saturation punished everyone. A cited example from the era: ~510 KB/s only when both ends and the path allowed it.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232A34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65653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FTP  ·  OPEN ARCHIVES OF THE EARLY INTERNET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97312" y="6565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65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—  COMMAND 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commands every client shared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370332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1887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 host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6072" y="153619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by hostname (preferred) or numeric address.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" y="2505456"/>
            <a:ext cx="3410712" cy="530352"/>
          </a:xfrm>
          <a:prstGeom prst="roundRect">
            <a:avLst>
              <a:gd name="adj" fmla="val 8621"/>
            </a:avLst>
          </a:prstGeom>
          <a:solidFill>
            <a:srgbClr val="0D1F12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2578608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 ftp.uu.net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024128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024128"/>
            <a:ext cx="370332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11887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16552" y="153619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remote directory. Formats differ: Unix, VMS, TOPS-20…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98264" y="2505456"/>
            <a:ext cx="3410712" cy="530352"/>
          </a:xfrm>
          <a:prstGeom prst="roundRect">
            <a:avLst>
              <a:gd name="adj" fmla="val 8621"/>
            </a:avLst>
          </a:prstGeom>
          <a:solidFill>
            <a:srgbClr val="0D1F12"/>
          </a:solidFill>
          <a:ln/>
        </p:spPr>
      </p:sp>
      <p:sp>
        <p:nvSpPr>
          <p:cNvPr id="15" name="Text 13"/>
          <p:cNvSpPr/>
          <p:nvPr/>
        </p:nvSpPr>
        <p:spPr>
          <a:xfrm>
            <a:off x="4489704" y="2578608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   or    dir n* outfile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1024128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024128"/>
            <a:ext cx="370332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8" name="Text 16"/>
          <p:cNvSpPr/>
          <p:nvPr/>
        </p:nvSpPr>
        <p:spPr>
          <a:xfrm>
            <a:off x="8257032" y="11887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57032" y="153619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remote directory. Most goods live under /pub.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38744" y="2505456"/>
            <a:ext cx="3410712" cy="530352"/>
          </a:xfrm>
          <a:prstGeom prst="roundRect">
            <a:avLst>
              <a:gd name="adj" fmla="val 8621"/>
            </a:avLst>
          </a:prstGeom>
          <a:solidFill>
            <a:srgbClr val="0D1F12"/>
          </a:solidFill>
          <a:ln/>
        </p:spPr>
      </p:sp>
      <p:sp>
        <p:nvSpPr>
          <p:cNvPr id="21" name="Text 19"/>
          <p:cNvSpPr/>
          <p:nvPr/>
        </p:nvSpPr>
        <p:spPr>
          <a:xfrm>
            <a:off x="8330184" y="2578608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pub     cd ..     (VMS: cd [-])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355848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355848"/>
            <a:ext cx="370332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35204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put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6072" y="38679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or upload one file. Optional local/remote rename.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57784" y="4837176"/>
            <a:ext cx="3410712" cy="530352"/>
          </a:xfrm>
          <a:prstGeom prst="roundRect">
            <a:avLst>
              <a:gd name="adj" fmla="val 8621"/>
            </a:avLst>
          </a:prstGeom>
          <a:solidFill>
            <a:srgbClr val="0D1F12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" y="4910328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file.Z localname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51960" y="3355848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51960" y="3355848"/>
            <a:ext cx="370332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30" name="Text 28"/>
          <p:cNvSpPr/>
          <p:nvPr/>
        </p:nvSpPr>
        <p:spPr>
          <a:xfrm>
            <a:off x="4416552" y="35204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/ ascii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16552" y="38679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switch. Binary for anything that is not plain text.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98264" y="4837176"/>
            <a:ext cx="3410712" cy="530352"/>
          </a:xfrm>
          <a:prstGeom prst="roundRect">
            <a:avLst>
              <a:gd name="adj" fmla="val 8621"/>
            </a:avLst>
          </a:prstGeom>
          <a:solidFill>
            <a:srgbClr val="0D1F12"/>
          </a:solidFill>
          <a:ln/>
        </p:spPr>
      </p:sp>
      <p:sp>
        <p:nvSpPr>
          <p:cNvPr id="33" name="Text 31"/>
          <p:cNvSpPr/>
          <p:nvPr/>
        </p:nvSpPr>
        <p:spPr>
          <a:xfrm>
            <a:off x="4489704" y="4910328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  then   get linux.tar.Z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92440" y="3355848"/>
            <a:ext cx="3703320" cy="2194560"/>
          </a:xfrm>
          <a:prstGeom prst="roundRect">
            <a:avLst>
              <a:gd name="adj" fmla="val 3333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92440" y="3355848"/>
            <a:ext cx="370332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36" name="Text 34"/>
          <p:cNvSpPr/>
          <p:nvPr/>
        </p:nvSpPr>
        <p:spPr>
          <a:xfrm>
            <a:off x="8257032" y="35204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mget / mput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57032" y="38679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batches. prompt toggles the per-file yes/no.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238744" y="4837176"/>
            <a:ext cx="3410712" cy="530352"/>
          </a:xfrm>
          <a:prstGeom prst="roundRect">
            <a:avLst>
              <a:gd name="adj" fmla="val 8621"/>
            </a:avLst>
          </a:prstGeom>
          <a:solidFill>
            <a:srgbClr val="0D1F12"/>
          </a:solidFill>
          <a:ln/>
        </p:spPr>
      </p:sp>
      <p:sp>
        <p:nvSpPr>
          <p:cNvPr id="39" name="Text 37"/>
          <p:cNvSpPr/>
          <p:nvPr/>
        </p:nvSpPr>
        <p:spPr>
          <a:xfrm>
            <a:off x="8330184" y="4910328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mget f*     prompt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232A34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65653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FTP  ·  OPEN ARCHIVES OF THE EARLY INTERNET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497312" y="6565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65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—  MODE &amp; MANNERS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 vs binary, and how not to hog the 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669280" cy="3063240"/>
          </a:xfrm>
          <a:prstGeom prst="roundRect">
            <a:avLst>
              <a:gd name="adj" fmla="val 2388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15214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 MODES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" y="1481328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1A2028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591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664" y="190195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line endings. Safe only for plain text.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81328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1A2028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5910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19856" y="190195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bytes. Required for .Z, executables, images, archives.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0175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ftp&gt; ascii     →  Type set to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ftp&gt; binary    →  Type set to 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the local size does not match the remote listing, the mode was wrong.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024128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15214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 FTP ETIQUETTE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10528" y="144475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exists so people can do real work. Extra traffic steals capacity from the site’s own users.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10528" y="2203704"/>
            <a:ext cx="201168" cy="20116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7" name="Text 15"/>
          <p:cNvSpPr/>
          <p:nvPr/>
        </p:nvSpPr>
        <p:spPr>
          <a:xfrm>
            <a:off x="6839712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large files after the site’s business hours — 2 a.m. local, not 2 p.m.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10528" y="2798064"/>
            <a:ext cx="201168" cy="20116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9" name="Text 17"/>
          <p:cNvSpPr/>
          <p:nvPr/>
        </p:nvSpPr>
        <p:spPr>
          <a:xfrm>
            <a:off x="6839712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remote site’s time zone, not yours. Dinner in Maine is afternoon in California.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10528" y="3392424"/>
            <a:ext cx="201168" cy="201168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21" name="Text 19"/>
          <p:cNvSpPr/>
          <p:nvPr/>
        </p:nvSpPr>
        <p:spPr>
          <a:xfrm>
            <a:off x="6839712" y="3337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FTP session is load on both CPU and the uplink. Treat bandwidth as shared.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4224528"/>
            <a:ext cx="11365992" cy="1993392"/>
          </a:xfrm>
          <a:prstGeom prst="roundRect">
            <a:avLst>
              <a:gd name="adj" fmla="val 367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4352544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THE RULE EXISTED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" y="4645152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archives were gifts of spare disk and spare bandwidth from universities and companies. There was no CDN, no fair-queue at the edge, and often a single leased line. Courtesy was the rate limiter. The gentleman’s agreement: use it, credit it, don’t saturate it while the lab is trying to work.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232A34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65653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FTP  ·  OPEN ARCHIVES OF THE EARLY INTERNET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97312" y="6565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65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—  THEN AND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FTP vs modern file sharing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365992" cy="420624"/>
          </a:xfrm>
          <a:prstGeom prst="rect">
            <a:avLst/>
          </a:prstGeom>
          <a:solidFill>
            <a:srgbClr val="1A2028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078992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55848" y="1078992"/>
            <a:ext cx="4288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MODERN ANONYMOUS FTP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36408" y="1078992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MODERN FILE SHARING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11365992" cy="621792"/>
          </a:xfrm>
          <a:prstGeom prst="rect">
            <a:avLst/>
          </a:prstGeom>
          <a:solidFill>
            <a:srgbClr val="11161D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1517904"/>
            <a:ext cx="264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55848" y="1517904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as anonymous; chroot, rate limits, read-only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36408" y="1517904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OAuth, SSO, SSH keys, API tokens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066544"/>
            <a:ext cx="11365992" cy="621792"/>
          </a:xfrm>
          <a:prstGeom prst="rect">
            <a:avLst/>
          </a:prstGeom>
          <a:solidFill>
            <a:srgbClr val="0E1319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2139696"/>
            <a:ext cx="264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2139696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FTP still exists; many sites add FTPS (TLS)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36408" y="2139696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1.3, SFTP over SSH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688336"/>
            <a:ext cx="11365992" cy="621792"/>
          </a:xfrm>
          <a:prstGeom prst="rect">
            <a:avLst/>
          </a:prstGeom>
          <a:solidFill>
            <a:srgbClr val="11161D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2761488"/>
            <a:ext cx="264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55848" y="2761488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channel; passive mode for NAT/firewalls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36408" y="2761488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encrypted TCP or SSH channel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310128"/>
            <a:ext cx="11365992" cy="621792"/>
          </a:xfrm>
          <a:prstGeom prst="rect">
            <a:avLst/>
          </a:prstGeom>
          <a:solidFill>
            <a:srgbClr val="0E1319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3383280"/>
            <a:ext cx="264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55848" y="3383280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FTP/FTPS client (browsers dropped FTP)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36408" y="3383280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OS tools, SDKs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3931920"/>
            <a:ext cx="11365992" cy="621792"/>
          </a:xfrm>
          <a:prstGeom prst="rect">
            <a:avLst/>
          </a:prstGeom>
          <a:solidFill>
            <a:srgbClr val="11161D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4005072"/>
            <a:ext cx="264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55848" y="4005072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unless FTPS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36408" y="4005072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checks, versioning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" y="4553712"/>
            <a:ext cx="11365992" cy="621792"/>
          </a:xfrm>
          <a:prstGeom prst="rect">
            <a:avLst/>
          </a:prstGeom>
          <a:solidFill>
            <a:srgbClr val="0E1319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4626864"/>
            <a:ext cx="264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55848" y="4626864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listings; scriptable; no web UI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36408" y="4626864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Drag-and-drop, preview, resume, CDN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1480" y="5175504"/>
            <a:ext cx="11365992" cy="621792"/>
          </a:xfrm>
          <a:prstGeom prst="rect">
            <a:avLst/>
          </a:prstGeom>
          <a:solidFill>
            <a:srgbClr val="11161D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5248656"/>
            <a:ext cx="264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55848" y="5248656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mirrors, firmware, bulk automation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36408" y="5248656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Identity-aware collab and compliance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232A34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65653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FTP  ·  OPEN ARCHIVES OF THE EARLY INTERNET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497312" y="6565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65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—  RESOURCE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archie — search before the web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903720" cy="2148840"/>
          </a:xfrm>
          <a:prstGeom prst="roundRect">
            <a:avLst>
              <a:gd name="adj" fmla="val 3404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152144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ARCHIE WAS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1444752"/>
            <a:ext cx="6537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at McGill University, archie indexed anonymous FTP sites so you could find a file without already knowing which host held it. At peak it watched 800+ archives and more than a million files — about 50 GB at early-1990s scale — refreshed monthly so the crawls themselves would not flatten the net.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024128"/>
            <a:ext cx="4233672" cy="2148840"/>
          </a:xfrm>
          <a:prstGeom prst="roundRect">
            <a:avLst>
              <a:gd name="adj" fmla="val 3404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44968" y="11521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YOU TALKED TO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44968" y="1444752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telnet  →  login: archie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clients: archie, xarchie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archie@archie.mcgill.ca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C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 prog vine.tar.Z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11365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HISTORICAL SERVERS  (none of these names resolve now)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584448"/>
            <a:ext cx="2788920" cy="585216"/>
          </a:xfrm>
          <a:prstGeom prst="roundRect">
            <a:avLst>
              <a:gd name="adj" fmla="val 125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3639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archie.mcgill.ca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· original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9272" y="3584448"/>
            <a:ext cx="2788920" cy="585216"/>
          </a:xfrm>
          <a:prstGeom prst="roundRect">
            <a:avLst>
              <a:gd name="adj" fmla="val 125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639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archie.ans.net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27064" y="3584448"/>
            <a:ext cx="2788920" cy="585216"/>
          </a:xfrm>
          <a:prstGeom prst="roundRect">
            <a:avLst>
              <a:gd name="adj" fmla="val 125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3639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archie.rutgers.edu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Jersey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34856" y="3584448"/>
            <a:ext cx="2788920" cy="585216"/>
          </a:xfrm>
          <a:prstGeom prst="roundRect">
            <a:avLst>
              <a:gd name="adj" fmla="val 125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44584" y="3639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archie.sura.net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44584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242816"/>
            <a:ext cx="2788920" cy="585216"/>
          </a:xfrm>
          <a:prstGeom prst="roundRect">
            <a:avLst>
              <a:gd name="adj" fmla="val 125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4297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archie.unl.edu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" y="45354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9272" y="4242816"/>
            <a:ext cx="2788920" cy="585216"/>
          </a:xfrm>
          <a:prstGeom prst="roundRect">
            <a:avLst>
              <a:gd name="adj" fmla="val 125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4297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archie.funet.fi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45354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27064" y="4242816"/>
            <a:ext cx="2788920" cy="585216"/>
          </a:xfrm>
          <a:prstGeom prst="roundRect">
            <a:avLst>
              <a:gd name="adj" fmla="val 125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4297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archie.au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45354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34856" y="4242816"/>
            <a:ext cx="2788920" cy="585216"/>
          </a:xfrm>
          <a:prstGeom prst="roundRect">
            <a:avLst>
              <a:gd name="adj" fmla="val 12500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44584" y="4297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archie.doc.ic.ac.uk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44584" y="45354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Britain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5010912"/>
            <a:ext cx="11365992" cy="1207008"/>
          </a:xfrm>
          <a:prstGeom prst="roundRect">
            <a:avLst>
              <a:gd name="adj" fmla="val 6061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5120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 RECOVERY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" y="535838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production servers died in the 2000s. In 2024 the Serial Port project recovered Archie 3.5 beta from Warsaw backups and stood up a historically accurate public instance on an emulated SPARCstation at archie.serialport.org — web frontend plus classic protocols. As of late August 2026 that VM is marked offline; the software and docs remain.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232A34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65653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FTP  ·  OPEN ARCHIVES OF THE EARLY INTERNET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497312" y="6565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65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— 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11365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obsolete. Specialized.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566928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2618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daemons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" y="1591056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vsftpd, Pure-FTPd, ProFTPD still speak anonymous — read-only, chrooted, rate-limited, logged.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097280"/>
            <a:ext cx="566928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2618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encryption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4808" y="1591056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FTPS wraps the same login in TLS so the public tree is not sent in the clear.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651760"/>
            <a:ext cx="566928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28163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still wins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" y="3145536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mirrors, firmware drops, scripted bulk pulls. Simple, predictable, no web UI tax.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265176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651760"/>
            <a:ext cx="566928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28163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replaced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4808" y="3145536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SFTP, and cloud stores for identity, resume, CDN, compliance, and browsers.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4315968"/>
            <a:ext cx="11365992" cy="1901952"/>
          </a:xfrm>
          <a:prstGeom prst="roundRect">
            <a:avLst>
              <a:gd name="adj" fmla="val 3846"/>
            </a:avLst>
          </a:prstGeom>
          <a:solidFill>
            <a:srgbClr val="11161D"/>
          </a:solidFill>
          <a:ln w="12700">
            <a:solidFill>
              <a:srgbClr val="2E39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" y="446227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LAST 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" y="475488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FTP was how the early Internet published the commons: source, papers, drivers, whole operating systems. The web, package managers, and object stores inherited the job. The protocol remains for the cases where a world-readable directory and a scriptable client are still the cleanest design.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232A34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65653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FTP  ·  OPEN ARCHIVES OF THE EARLY INTERNET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97312" y="6565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Anonymous FTP — Infographic</dc:title>
  <dc:subject>History, etiquette, commands, and modern comparison</dc:subject>
  <dc:creator>JD Redding</dc:creator>
  <cp:lastModifiedBy>JD Redding</cp:lastModifiedBy>
  <cp:revision>1</cp:revision>
  <dcterms:created xsi:type="dcterms:W3CDTF">2026-08-30T14:14:33Z</dcterms:created>
  <dcterms:modified xsi:type="dcterms:W3CDTF">2026-08-30T14:14:33Z</dcterms:modified>
</cp:coreProperties>
</file>